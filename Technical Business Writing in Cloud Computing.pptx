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58" r:id="rId6"/>
    <p:sldId id="257" r:id="rId7"/>
    <p:sldId id="286" r:id="rId8"/>
    <p:sldId id="261" r:id="rId9"/>
    <p:sldId id="260" r:id="rId10"/>
    <p:sldId id="287" r:id="rId11"/>
    <p:sldId id="288" r:id="rId12"/>
    <p:sldId id="289" r:id="rId13"/>
    <p:sldId id="29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4" d="100"/>
          <a:sy n="94" d="100"/>
        </p:scale>
        <p:origin x="240" y="58"/>
      </p:cViewPr>
      <p:guideLst>
        <p:guide orient="horz" pos="2160"/>
        <p:guide pos="3840"/>
      </p:guideLst>
    </p:cSldViewPr>
  </p:slideViewPr>
  <p:notesTextViewPr>
    <p:cViewPr>
      <p:scale>
        <a:sx n="3" d="2"/>
        <a:sy n="3" d="2"/>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11/26/2023</a:t>
            </a:fld>
            <a:endParaRPr lang="en-US" dirty="0"/>
          </a:p>
        </p:txBody>
      </p:sp>
      <p:sp>
        <p:nvSpPr>
          <p:cNvPr id="4" name="Footer Placeholder 3">
            <a:extLst>
              <a:ext uri="{FF2B5EF4-FFF2-40B4-BE49-F238E27FC236}">
                <a16:creationId xmlns=""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11/26/2023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CECF1"/>
                </a:solidFill>
                <a:effectLst/>
                <a:latin typeface="Söhne"/>
              </a:rPr>
              <a:t>Good [morning/afternoon/evening], everyone. Today, I'm excited to share insights from our in-depth exploration into the dynamic world of cloud computing. Our study, titled 'The Role of Technical Business Writing in Cloud Computing: A Thematic Analysis,' draws on a fascinating interview with Mr. Zaheer Sani, a distinguished figure as the Co-Founder and CTO of </a:t>
            </a:r>
            <a:r>
              <a:rPr lang="en-US" b="0" i="0" dirty="0" err="1">
                <a:solidFill>
                  <a:srgbClr val="ECECF1"/>
                </a:solidFill>
                <a:effectLst/>
                <a:latin typeface="Söhne"/>
              </a:rPr>
              <a:t>BreakInt</a:t>
            </a:r>
            <a:r>
              <a:rPr lang="en-US" b="0" i="0" dirty="0">
                <a:solidFill>
                  <a:srgbClr val="ECECF1"/>
                </a:solidFill>
                <a:effectLst/>
                <a:latin typeface="Söhne"/>
              </a:rPr>
              <a:t>."</a:t>
            </a:r>
            <a:endParaRPr lang="en-US"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1</a:t>
            </a:fld>
            <a:endParaRPr lang="en-US" noProof="0" dirty="0"/>
          </a:p>
        </p:txBody>
      </p:sp>
    </p:spTree>
    <p:extLst>
      <p:ext uri="{BB962C8B-B14F-4D97-AF65-F5344CB8AC3E}">
        <p14:creationId xmlns:p14="http://schemas.microsoft.com/office/powerpoint/2010/main" val="88036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dirty="0">
                <a:effectLst/>
                <a:latin typeface="Times New Roman" panose="02020603050405020304" pitchFamily="18" charset="0"/>
                <a:ea typeface="Calibri" panose="020F0502020204030204" pitchFamily="34" charset="0"/>
              </a:rPr>
              <a:t>As we embark on this journey, let's first acknowledge the transformative impact of cloud computing. It's not just a technological shift; it's a paradigm that's reshaping how businesses function. Amidst this revolution, we often overlook a crucial aspect — the power of effective communication, specifically through Technical Business Writing (TBW). Today, we'll explore why understanding this nuanced interplay is key in the ever-evolving landscape of cloud technology.</a:t>
            </a:r>
            <a:br>
              <a:rPr lang="en-US" sz="1800" dirty="0">
                <a:effectLst/>
                <a:latin typeface="Times New Roman" panose="02020603050405020304" pitchFamily="18" charset="0"/>
                <a:ea typeface="Calibri" panose="020F0502020204030204" pitchFamily="34" charset="0"/>
              </a:rPr>
            </a:br>
            <a:r>
              <a:rPr lang="en-US" b="0" i="0" dirty="0">
                <a:solidFill>
                  <a:srgbClr val="FFFFFF"/>
                </a:solidFill>
                <a:effectLst/>
                <a:latin typeface="Söhne"/>
              </a:rPr>
              <a:t>The research questions encompass various dimensions of Technical Business Writing (TBW) in Cloud Computing, exploring its contributions to documentation, communication, and decision-making. Additionally, the investigation covers TBW's role in formatting practices, migration plans, risk mitigation, personnel allocation, cost-benefit analysis, ROI quantification, and its anticipated future role in the realm of Cloud Computing. In essence, these questions aim to provide a comprehensive understanding of how TBW influences different facets of cloud projects and its evolving significance in the field.</a:t>
            </a:r>
          </a:p>
          <a:p>
            <a:endParaRPr lang="en-US" b="0" i="0" dirty="0">
              <a:solidFill>
                <a:srgbClr val="FFFFFF"/>
              </a:solidFill>
              <a:effectLst/>
              <a:latin typeface="Söhne"/>
            </a:endParaRPr>
          </a:p>
          <a:p>
            <a:r>
              <a:rPr lang="en-US" b="0" i="0" dirty="0">
                <a:solidFill>
                  <a:srgbClr val="FFFFFF"/>
                </a:solidFill>
                <a:effectLst/>
                <a:latin typeface="Söhne"/>
              </a:rPr>
              <a:t>Speaker clearly formulated and </a:t>
            </a:r>
            <a:r>
              <a:rPr lang="en-US" b="0" i="0" dirty="0" err="1">
                <a:solidFill>
                  <a:srgbClr val="FFFFFF"/>
                </a:solidFill>
                <a:effectLst/>
                <a:latin typeface="Söhne"/>
              </a:rPr>
              <a:t>statedthesis</a:t>
            </a:r>
            <a:r>
              <a:rPr lang="en-US" b="0" i="0" dirty="0">
                <a:solidFill>
                  <a:srgbClr val="FFFFFF"/>
                </a:solidFill>
                <a:effectLst/>
                <a:latin typeface="Söhne"/>
              </a:rPr>
              <a:t> statement during the </a:t>
            </a:r>
            <a:r>
              <a:rPr lang="en-US" b="0" i="0" dirty="0" err="1">
                <a:solidFill>
                  <a:srgbClr val="FFFFFF"/>
                </a:solidFill>
                <a:effectLst/>
                <a:latin typeface="Söhne"/>
              </a:rPr>
              <a:t>speechintroduction</a:t>
            </a:r>
            <a:r>
              <a:rPr lang="en-US" b="0" i="0" dirty="0">
                <a:solidFill>
                  <a:srgbClr val="FFFFFF"/>
                </a:solidFill>
                <a:effectLst/>
                <a:latin typeface="Söhne"/>
              </a:rPr>
              <a:t>. Thesis statement </a:t>
            </a:r>
            <a:r>
              <a:rPr lang="en-US" b="0" i="0" dirty="0" err="1">
                <a:solidFill>
                  <a:srgbClr val="FFFFFF"/>
                </a:solidFill>
                <a:effectLst/>
                <a:latin typeface="Söhne"/>
              </a:rPr>
              <a:t>identifiestopic</a:t>
            </a:r>
            <a:r>
              <a:rPr lang="en-US" b="0" i="0" dirty="0">
                <a:solidFill>
                  <a:srgbClr val="FFFFFF"/>
                </a:solidFill>
                <a:effectLst/>
                <a:latin typeface="Söhne"/>
              </a:rPr>
              <a:t> and encompasses/previews </a:t>
            </a:r>
            <a:r>
              <a:rPr lang="en-US" b="0" i="0" dirty="0" err="1">
                <a:solidFill>
                  <a:srgbClr val="FFFFFF"/>
                </a:solidFill>
                <a:effectLst/>
                <a:latin typeface="Söhne"/>
              </a:rPr>
              <a:t>mainpoints</a:t>
            </a:r>
            <a:r>
              <a:rPr lang="en-US" b="0" i="0" dirty="0">
                <a:solidFill>
                  <a:srgbClr val="FFFFFF"/>
                </a:solidFill>
                <a:effectLst/>
                <a:latin typeface="Söhne"/>
              </a:rPr>
              <a:t>.</a:t>
            </a:r>
          </a:p>
          <a:p>
            <a:endParaRPr lang="en-US" b="0" i="0" dirty="0">
              <a:solidFill>
                <a:srgbClr val="FFFFFF"/>
              </a:solidFill>
              <a:effectLst/>
              <a:latin typeface="Söhne"/>
            </a:endParaRPr>
          </a:p>
          <a:p>
            <a:r>
              <a:rPr lang="en-US" b="0" i="0" dirty="0">
                <a:solidFill>
                  <a:srgbClr val="FFFFFF"/>
                </a:solidFill>
                <a:effectLst/>
                <a:latin typeface="Söhne"/>
              </a:rPr>
              <a:t>Our thesis statement is that </a:t>
            </a:r>
            <a:r>
              <a:rPr lang="en-US" b="0" i="0" dirty="0" err="1">
                <a:solidFill>
                  <a:srgbClr val="FFFFFF"/>
                </a:solidFill>
                <a:effectLst/>
                <a:latin typeface="Söhne"/>
              </a:rPr>
              <a:t>tbw</a:t>
            </a:r>
            <a:r>
              <a:rPr lang="en-US" b="0" i="0" dirty="0">
                <a:solidFill>
                  <a:srgbClr val="FFFFFF"/>
                </a:solidFill>
                <a:effectLst/>
                <a:latin typeface="Söhne"/>
              </a:rPr>
              <a:t> has a significant role in the cloud project development and deployment cycle, and most importantly it ensures clear and concise communication between client and company</a:t>
            </a:r>
          </a:p>
          <a:p>
            <a:endParaRPr lang="en-US" b="0" i="0" dirty="0">
              <a:solidFill>
                <a:srgbClr val="FFFFFF"/>
              </a:solidFill>
              <a:effectLst/>
              <a:latin typeface="Söhne"/>
            </a:endParaRPr>
          </a:p>
          <a:p>
            <a:r>
              <a:rPr lang="en-US" b="0" i="0" dirty="0">
                <a:solidFill>
                  <a:srgbClr val="FFFFFF"/>
                </a:solidFill>
                <a:effectLst/>
                <a:latin typeface="Söhne"/>
              </a:rPr>
              <a:t>We focused specifically on the cloud project development and deployment cycle</a:t>
            </a:r>
            <a:br>
              <a:rPr lang="en-US" b="0" i="0" dirty="0">
                <a:solidFill>
                  <a:srgbClr val="FFFFFF"/>
                </a:solidFill>
                <a:effectLst/>
                <a:latin typeface="Söhne"/>
              </a:rPr>
            </a:br>
            <a:endParaRPr lang="en-US"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2</a:t>
            </a:fld>
            <a:endParaRPr lang="en-US" noProof="0" dirty="0"/>
          </a:p>
        </p:txBody>
      </p:sp>
    </p:spTree>
    <p:extLst>
      <p:ext uri="{BB962C8B-B14F-4D97-AF65-F5344CB8AC3E}">
        <p14:creationId xmlns:p14="http://schemas.microsoft.com/office/powerpoint/2010/main" val="590800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Calibri" panose="020F0502020204030204" pitchFamily="34" charset="0"/>
              </a:rPr>
              <a:t>Our study was grounded in a structured interview with Mr. Zaheer Sani. He stands not only as a Co-Founder and CTO of </a:t>
            </a:r>
            <a:r>
              <a:rPr lang="en-US" sz="1800" dirty="0" err="1">
                <a:effectLst/>
                <a:latin typeface="Times New Roman" panose="02020603050405020304" pitchFamily="18" charset="0"/>
                <a:ea typeface="Calibri" panose="020F0502020204030204" pitchFamily="34" charset="0"/>
              </a:rPr>
              <a:t>BreakInt</a:t>
            </a:r>
            <a:r>
              <a:rPr lang="en-US" sz="1800" dirty="0">
                <a:effectLst/>
                <a:latin typeface="Times New Roman" panose="02020603050405020304" pitchFamily="18" charset="0"/>
                <a:ea typeface="Calibri" panose="020F0502020204030204" pitchFamily="34" charset="0"/>
              </a:rPr>
              <a:t> but also as a lecturer at FAST-NUCES Islamabad, bringing a wealth of knowledge from academia and industry. This interview, conducted on October 18, 2023, was carefully crafted to unveil insights into the intricate relationship between Technical Business Writing and the multifaceted world of cloud computing.</a:t>
            </a:r>
            <a:endParaRPr lang="en-US"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3</a:t>
            </a:fld>
            <a:endParaRPr lang="en-US" noProof="0" dirty="0"/>
          </a:p>
        </p:txBody>
      </p:sp>
    </p:spTree>
    <p:extLst>
      <p:ext uri="{BB962C8B-B14F-4D97-AF65-F5344CB8AC3E}">
        <p14:creationId xmlns:p14="http://schemas.microsoft.com/office/powerpoint/2010/main" val="4230691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Mention that the chart represents the allocation of resources in terms of skills, services, and client budget.</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Key Observations:</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Point out the major slices of the pie and their significance.</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"Here, you can see that a substantial portion is dedicated to skills, indicating a strategic emphasis on expertise in cloud technologies."</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balanced distribution among services reflects a comprehensive approach to meet various project needs."</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"Notice the significant allocation to client budget, underscoring our commitment to aligning with client constraints."</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Strategic Emphasis on Skills:</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Dive deeper into the skills allocation:</a:t>
            </a:r>
          </a:p>
          <a:p>
            <a:pPr marL="0" marR="0">
              <a:lnSpc>
                <a:spcPct val="150000"/>
              </a:lnSpc>
              <a:spcBef>
                <a:spcPts val="120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emphasis on skills is crucial, ensuring that our team possesses the necessary expertise for successful project implementation."</a:t>
            </a:r>
          </a:p>
          <a:p>
            <a:r>
              <a:rPr lang="en-US" sz="1800" dirty="0">
                <a:effectLst/>
                <a:latin typeface="Times New Roman" panose="02020603050405020304" pitchFamily="18" charset="0"/>
                <a:ea typeface="Calibri" panose="020F0502020204030204" pitchFamily="34" charset="0"/>
              </a:rPr>
              <a:t>"This allocation reflects a proactive approach to staying ahead in the rapidly evolving landscape of cloud technologies</a:t>
            </a:r>
            <a:endParaRPr lang="en-US"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6</a:t>
            </a:fld>
            <a:endParaRPr lang="en-US" noProof="0" dirty="0"/>
          </a:p>
        </p:txBody>
      </p:sp>
    </p:spTree>
    <p:extLst>
      <p:ext uri="{BB962C8B-B14F-4D97-AF65-F5344CB8AC3E}">
        <p14:creationId xmlns:p14="http://schemas.microsoft.com/office/powerpoint/2010/main" val="908549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Calibri" panose="020F0502020204030204" pitchFamily="34" charset="0"/>
              </a:rPr>
              <a:t>How do these findings align with our original objectives? The themes we identified directly correspond with our initial goal — to understand the practical application of TBW in Cloud Computing. This alignment serves as a validation, affirming that our study has successfully met its research objectives.</a:t>
            </a:r>
            <a:endParaRPr lang="en-US" dirty="0"/>
          </a:p>
        </p:txBody>
      </p:sp>
      <p:sp>
        <p:nvSpPr>
          <p:cNvPr id="4" name="Slide Number Placeholder 3"/>
          <p:cNvSpPr>
            <a:spLocks noGrp="1"/>
          </p:cNvSpPr>
          <p:nvPr>
            <p:ph type="sldNum" sz="quarter" idx="5"/>
          </p:nvPr>
        </p:nvSpPr>
        <p:spPr/>
        <p:txBody>
          <a:bodyPr/>
          <a:lstStyle/>
          <a:p>
            <a:fld id="{1734D747-9380-41EE-9946-EC9EC0CA5D1E}" type="slidenum">
              <a:rPr lang="en-US" noProof="0" smtClean="0"/>
              <a:t>7</a:t>
            </a:fld>
            <a:endParaRPr lang="en-US" noProof="0" dirty="0"/>
          </a:p>
        </p:txBody>
      </p:sp>
    </p:spTree>
    <p:extLst>
      <p:ext uri="{BB962C8B-B14F-4D97-AF65-F5344CB8AC3E}">
        <p14:creationId xmlns:p14="http://schemas.microsoft.com/office/powerpoint/2010/main" val="784825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2BE5BF-9922-45FB-8F3F-4446D40A051B}"/>
              </a:ext>
            </a:extLst>
          </p:cNvPr>
          <p:cNvSpPr>
            <a:spLocks noGrp="1"/>
          </p:cNvSpPr>
          <p:nvPr>
            <p:ph type="ctrTitle"/>
          </p:nvPr>
        </p:nvSpPr>
        <p:spPr/>
        <p:txBody>
          <a:bodyPr/>
          <a:lstStyle/>
          <a:p>
            <a:r>
              <a:rPr lang="en-US" sz="3600" dirty="0"/>
              <a:t>Technical Business Writing in Cloud Computing</a:t>
            </a:r>
          </a:p>
        </p:txBody>
      </p:sp>
      <p:sp>
        <p:nvSpPr>
          <p:cNvPr id="3" name="Subtitle 2">
            <a:extLst>
              <a:ext uri="{FF2B5EF4-FFF2-40B4-BE49-F238E27FC236}">
                <a16:creationId xmlns="" xmlns:a16="http://schemas.microsoft.com/office/drawing/2014/main" id="{0D537F64-4C96-4AA8-BB21-E8053A3186DD}"/>
              </a:ext>
            </a:extLst>
          </p:cNvPr>
          <p:cNvSpPr>
            <a:spLocks noGrp="1"/>
          </p:cNvSpPr>
          <p:nvPr>
            <p:ph type="subTitle" idx="1"/>
          </p:nvPr>
        </p:nvSpPr>
        <p:spPr/>
        <p:txBody>
          <a:bodyPr>
            <a:normAutofit/>
          </a:bodyPr>
          <a:lstStyle/>
          <a:p>
            <a:pPr marL="0" indent="0">
              <a:buNone/>
            </a:pPr>
            <a:r>
              <a:rPr lang="en-US" sz="2000" b="1" dirty="0"/>
              <a:t>Unraveling its Role, Current Applications, and Future Prospects</a:t>
            </a:r>
          </a:p>
        </p:txBody>
      </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7875C19A-1AAE-476A-A316-A2CF92D763D3}"/>
              </a:ext>
            </a:extLst>
          </p:cNvPr>
          <p:cNvSpPr>
            <a:spLocks noGrp="1"/>
          </p:cNvSpPr>
          <p:nvPr>
            <p:ph type="title"/>
          </p:nvPr>
        </p:nvSpPr>
        <p:spPr>
          <a:xfrm>
            <a:off x="444500" y="542925"/>
            <a:ext cx="11214100" cy="590931"/>
          </a:xfrm>
        </p:spPr>
        <p:txBody>
          <a:bodyPr/>
          <a:lstStyle/>
          <a:p>
            <a:pPr algn="l"/>
            <a:r>
              <a:rPr lang="en-US" sz="3600" b="1" i="0" dirty="0">
                <a:solidFill>
                  <a:schemeClr val="accent2"/>
                </a:solidFill>
                <a:effectLst/>
                <a:latin typeface="Söhne"/>
              </a:rPr>
              <a:t>Introduction</a:t>
            </a:r>
            <a:endParaRPr lang="en-US" b="1" i="0" dirty="0">
              <a:solidFill>
                <a:schemeClr val="accent2"/>
              </a:solidFill>
              <a:effectLst/>
              <a:latin typeface="Söhne"/>
            </a:endParaRPr>
          </a:p>
        </p:txBody>
      </p:sp>
      <p:sp>
        <p:nvSpPr>
          <p:cNvPr id="10" name="Text Placeholder 9">
            <a:extLst>
              <a:ext uri="{FF2B5EF4-FFF2-40B4-BE49-F238E27FC236}">
                <a16:creationId xmlns="" xmlns:a16="http://schemas.microsoft.com/office/drawing/2014/main" id="{EF2BC084-E6DB-4DE7-B309-042A85EBA700}"/>
              </a:ext>
            </a:extLst>
          </p:cNvPr>
          <p:cNvSpPr>
            <a:spLocks noGrp="1"/>
          </p:cNvSpPr>
          <p:nvPr>
            <p:ph type="body" sz="quarter" idx="13"/>
          </p:nvPr>
        </p:nvSpPr>
        <p:spPr/>
        <p:txBody>
          <a:bodyPr/>
          <a:lstStyle/>
          <a:p>
            <a:pPr algn="l">
              <a:buFont typeface="Arial" panose="020B0604020202020204" pitchFamily="34" charset="0"/>
              <a:buChar char="•"/>
            </a:pPr>
            <a:r>
              <a:rPr lang="en-US" sz="2400" b="0" i="0" dirty="0">
                <a:solidFill>
                  <a:srgbClr val="ECECF1"/>
                </a:solidFill>
                <a:effectLst/>
                <a:latin typeface="Söhne"/>
              </a:rPr>
              <a:t>Cloud computing transforms </a:t>
            </a:r>
            <a:r>
              <a:rPr lang="en-US" sz="2400" b="1" i="0" dirty="0">
                <a:solidFill>
                  <a:srgbClr val="ECECF1"/>
                </a:solidFill>
                <a:effectLst/>
                <a:latin typeface="Söhne"/>
              </a:rPr>
              <a:t>business processes</a:t>
            </a:r>
            <a:r>
              <a:rPr lang="en-US" sz="2400" b="0" i="0" dirty="0">
                <a:solidFill>
                  <a:srgbClr val="ECECF1"/>
                </a:solidFill>
                <a:effectLst/>
                <a:latin typeface="Söhne"/>
              </a:rPr>
              <a:t>.</a:t>
            </a:r>
          </a:p>
          <a:p>
            <a:pPr algn="l">
              <a:buFont typeface="Arial" panose="020B0604020202020204" pitchFamily="34" charset="0"/>
              <a:buChar char="•"/>
            </a:pPr>
            <a:r>
              <a:rPr lang="en-US" sz="2400" b="0" i="0" dirty="0">
                <a:solidFill>
                  <a:srgbClr val="ECECF1"/>
                </a:solidFill>
                <a:effectLst/>
                <a:latin typeface="Söhne"/>
              </a:rPr>
              <a:t>Emphasis on </a:t>
            </a:r>
            <a:r>
              <a:rPr lang="en-US" sz="2400" b="1" i="0" dirty="0">
                <a:solidFill>
                  <a:srgbClr val="ECECF1"/>
                </a:solidFill>
                <a:effectLst/>
                <a:latin typeface="Söhne"/>
              </a:rPr>
              <a:t>TBW's significance.</a:t>
            </a:r>
          </a:p>
          <a:p>
            <a:pPr algn="l">
              <a:buFont typeface="Arial" panose="020B0604020202020204" pitchFamily="34" charset="0"/>
              <a:buChar char="•"/>
            </a:pPr>
            <a:r>
              <a:rPr lang="en-US" sz="2400" b="0" i="0" dirty="0">
                <a:solidFill>
                  <a:srgbClr val="ECECF1"/>
                </a:solidFill>
                <a:effectLst/>
                <a:latin typeface="Söhne"/>
              </a:rPr>
              <a:t>Study aims to </a:t>
            </a:r>
            <a:r>
              <a:rPr lang="en-US" sz="2400" b="1" i="0" dirty="0">
                <a:solidFill>
                  <a:srgbClr val="ECECF1"/>
                </a:solidFill>
                <a:effectLst/>
                <a:latin typeface="Söhne"/>
              </a:rPr>
              <a:t>understand TBW's role in cloud solutions.</a:t>
            </a:r>
          </a:p>
          <a:p>
            <a:pPr algn="l">
              <a:buFont typeface="Arial" panose="020B0604020202020204" pitchFamily="34" charset="0"/>
              <a:buChar char="•"/>
            </a:pPr>
            <a:r>
              <a:rPr lang="en-US" sz="2400" b="1" i="0" dirty="0">
                <a:solidFill>
                  <a:srgbClr val="ECECF1"/>
                </a:solidFill>
                <a:effectLst/>
                <a:latin typeface="Söhne"/>
              </a:rPr>
              <a:t>Research questions </a:t>
            </a:r>
            <a:r>
              <a:rPr lang="en-US" sz="2400" b="0" i="0" dirty="0">
                <a:solidFill>
                  <a:srgbClr val="ECECF1"/>
                </a:solidFill>
                <a:effectLst/>
                <a:latin typeface="Söhne"/>
              </a:rPr>
              <a:t>cover TBW's contribution, formatting, migration plans, risk mitigation, personnel allocation, cost-benefit analysis, ROI quantification, and future role.</a:t>
            </a:r>
          </a:p>
          <a:p>
            <a:pPr marL="0" indent="0" algn="l">
              <a:buNone/>
            </a:pPr>
            <a:endParaRPr lang="en-US" sz="2400" b="0" i="0" dirty="0">
              <a:solidFill>
                <a:srgbClr val="ECECF1"/>
              </a:solidFill>
              <a:effectLst/>
              <a:latin typeface="Söhne"/>
            </a:endParaRPr>
          </a:p>
        </p:txBody>
      </p:sp>
      <p:sp>
        <p:nvSpPr>
          <p:cNvPr id="2" name="Slide Number Placeholder 1">
            <a:extLst>
              <a:ext uri="{FF2B5EF4-FFF2-40B4-BE49-F238E27FC236}">
                <a16:creationId xmlns=""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3BD8413-C238-49D7-A4E1-E8FEF1811A0E}"/>
              </a:ext>
            </a:extLst>
          </p:cNvPr>
          <p:cNvSpPr>
            <a:spLocks noGrp="1"/>
          </p:cNvSpPr>
          <p:nvPr>
            <p:ph type="title"/>
          </p:nvPr>
        </p:nvSpPr>
        <p:spPr>
          <a:xfrm>
            <a:off x="668203" y="841076"/>
            <a:ext cx="7781544" cy="859055"/>
          </a:xfrm>
        </p:spPr>
        <p:txBody>
          <a:bodyPr>
            <a:normAutofit/>
          </a:bodyPr>
          <a:lstStyle/>
          <a:p>
            <a:pPr algn="l"/>
            <a:r>
              <a:rPr lang="en-US" sz="4000" b="1" i="0" dirty="0">
                <a:solidFill>
                  <a:schemeClr val="accent2"/>
                </a:solidFill>
                <a:effectLst/>
                <a:latin typeface="Söhne"/>
              </a:rPr>
              <a:t>Methodology</a:t>
            </a:r>
          </a:p>
        </p:txBody>
      </p:sp>
      <p:sp>
        <p:nvSpPr>
          <p:cNvPr id="2" name="Slide Number Placeholder 1">
            <a:extLst>
              <a:ext uri="{FF2B5EF4-FFF2-40B4-BE49-F238E27FC236}">
                <a16:creationId xmlns=""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3" name="Text Placeholder 9">
            <a:extLst>
              <a:ext uri="{FF2B5EF4-FFF2-40B4-BE49-F238E27FC236}">
                <a16:creationId xmlns="" xmlns:a16="http://schemas.microsoft.com/office/drawing/2014/main" id="{18A73237-F93A-D2F9-30D7-71DCFDF64387}"/>
              </a:ext>
            </a:extLst>
          </p:cNvPr>
          <p:cNvSpPr txBox="1">
            <a:spLocks/>
          </p:cNvSpPr>
          <p:nvPr/>
        </p:nvSpPr>
        <p:spPr>
          <a:xfrm>
            <a:off x="548497" y="1997005"/>
            <a:ext cx="6718300" cy="4093243"/>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ECECF1"/>
                </a:solidFill>
                <a:latin typeface="Söhne"/>
              </a:rPr>
              <a:t>Chose </a:t>
            </a:r>
            <a:r>
              <a:rPr lang="en-US" sz="2400" b="1" dirty="0">
                <a:solidFill>
                  <a:srgbClr val="ECECF1"/>
                </a:solidFill>
                <a:latin typeface="Söhne"/>
              </a:rPr>
              <a:t>Mr. Zaheer Sani</a:t>
            </a:r>
            <a:r>
              <a:rPr lang="en-US" sz="2400" dirty="0">
                <a:solidFill>
                  <a:srgbClr val="ECECF1"/>
                </a:solidFill>
                <a:latin typeface="Söhne"/>
              </a:rPr>
              <a:t>, Co-Founder and CTO of </a:t>
            </a:r>
            <a:r>
              <a:rPr lang="en-US" sz="2400" b="1" dirty="0" err="1">
                <a:solidFill>
                  <a:srgbClr val="ECECF1"/>
                </a:solidFill>
                <a:latin typeface="Söhne"/>
              </a:rPr>
              <a:t>BreakInt</a:t>
            </a:r>
            <a:r>
              <a:rPr lang="en-US" sz="2400" dirty="0">
                <a:solidFill>
                  <a:srgbClr val="ECECF1"/>
                </a:solidFill>
                <a:latin typeface="Söhne"/>
              </a:rPr>
              <a:t> and lecturer at FAST-NUCES Islamabad.</a:t>
            </a:r>
          </a:p>
          <a:p>
            <a:r>
              <a:rPr lang="en-US" sz="2400" dirty="0">
                <a:solidFill>
                  <a:srgbClr val="ECECF1"/>
                </a:solidFill>
                <a:latin typeface="Söhne"/>
              </a:rPr>
              <a:t>His expertise and multiple roles (</a:t>
            </a:r>
            <a:r>
              <a:rPr lang="en-US" sz="2400" b="1" dirty="0">
                <a:solidFill>
                  <a:srgbClr val="ECECF1"/>
                </a:solidFill>
                <a:latin typeface="Söhne"/>
              </a:rPr>
              <a:t>teacher, executive, industry professional</a:t>
            </a:r>
            <a:r>
              <a:rPr lang="en-US" sz="2400" dirty="0">
                <a:solidFill>
                  <a:srgbClr val="ECECF1"/>
                </a:solidFill>
                <a:latin typeface="Söhne"/>
              </a:rPr>
              <a:t>) provided diverse perspectives.</a:t>
            </a:r>
          </a:p>
          <a:p>
            <a:r>
              <a:rPr lang="en-US" sz="2400" dirty="0">
                <a:solidFill>
                  <a:srgbClr val="ECECF1"/>
                </a:solidFill>
                <a:latin typeface="Söhne"/>
              </a:rPr>
              <a:t>Structured interview format with </a:t>
            </a:r>
            <a:r>
              <a:rPr lang="en-US" sz="2400" b="1" dirty="0">
                <a:solidFill>
                  <a:srgbClr val="ECECF1"/>
                </a:solidFill>
                <a:latin typeface="Söhne"/>
              </a:rPr>
              <a:t>10 research questions.</a:t>
            </a:r>
          </a:p>
          <a:p>
            <a:r>
              <a:rPr lang="en-US" sz="2400" b="1" dirty="0">
                <a:solidFill>
                  <a:srgbClr val="ECECF1"/>
                </a:solidFill>
                <a:latin typeface="Söhne"/>
              </a:rPr>
              <a:t>Thematic Analysis</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3BD8413-C238-49D7-A4E1-E8FEF1811A0E}"/>
              </a:ext>
            </a:extLst>
          </p:cNvPr>
          <p:cNvSpPr>
            <a:spLocks noGrp="1"/>
          </p:cNvSpPr>
          <p:nvPr>
            <p:ph type="title"/>
          </p:nvPr>
        </p:nvSpPr>
        <p:spPr>
          <a:xfrm>
            <a:off x="1453207" y="521899"/>
            <a:ext cx="7781544" cy="859055"/>
          </a:xfrm>
        </p:spPr>
        <p:txBody>
          <a:bodyPr>
            <a:normAutofit/>
          </a:bodyPr>
          <a:lstStyle/>
          <a:p>
            <a:pPr algn="l"/>
            <a:r>
              <a:rPr lang="en-US" sz="4000" b="1" i="0" dirty="0">
                <a:solidFill>
                  <a:schemeClr val="accent2"/>
                </a:solidFill>
                <a:effectLst/>
                <a:latin typeface="Söhne"/>
              </a:rPr>
              <a:t>Thematic Analysis</a:t>
            </a:r>
          </a:p>
        </p:txBody>
      </p:sp>
      <p:sp>
        <p:nvSpPr>
          <p:cNvPr id="2" name="Slide Number Placeholder 1">
            <a:extLst>
              <a:ext uri="{FF2B5EF4-FFF2-40B4-BE49-F238E27FC236}">
                <a16:creationId xmlns=""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3" name="Text Placeholder 9">
            <a:extLst>
              <a:ext uri="{FF2B5EF4-FFF2-40B4-BE49-F238E27FC236}">
                <a16:creationId xmlns="" xmlns:a16="http://schemas.microsoft.com/office/drawing/2014/main" id="{18A73237-F93A-D2F9-30D7-71DCFDF64387}"/>
              </a:ext>
            </a:extLst>
          </p:cNvPr>
          <p:cNvSpPr txBox="1">
            <a:spLocks/>
          </p:cNvSpPr>
          <p:nvPr/>
        </p:nvSpPr>
        <p:spPr>
          <a:xfrm>
            <a:off x="548497" y="1700131"/>
            <a:ext cx="6718300" cy="4390117"/>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ECECF1"/>
                </a:solidFill>
                <a:latin typeface="Söhne"/>
              </a:rPr>
              <a:t>Key themes:</a:t>
            </a:r>
          </a:p>
          <a:p>
            <a:pPr>
              <a:buFont typeface="Courier New" panose="02070309020205020404" pitchFamily="49" charset="0"/>
              <a:buChar char="o"/>
            </a:pPr>
            <a:r>
              <a:rPr lang="en-US" sz="2000" b="0" i="0" dirty="0">
                <a:solidFill>
                  <a:srgbClr val="ECECF1"/>
                </a:solidFill>
                <a:effectLst/>
                <a:latin typeface="Söhne"/>
              </a:rPr>
              <a:t>TBW's role in development</a:t>
            </a:r>
          </a:p>
          <a:p>
            <a:pPr>
              <a:buFont typeface="Courier New" panose="02070309020205020404" pitchFamily="49" charset="0"/>
              <a:buChar char="o"/>
            </a:pPr>
            <a:r>
              <a:rPr lang="en-US" sz="2000" dirty="0">
                <a:solidFill>
                  <a:srgbClr val="ECECF1"/>
                </a:solidFill>
                <a:latin typeface="Söhne"/>
              </a:rPr>
              <a:t>M</a:t>
            </a:r>
            <a:r>
              <a:rPr lang="en-US" sz="2000" b="0" i="0" dirty="0">
                <a:solidFill>
                  <a:srgbClr val="ECECF1"/>
                </a:solidFill>
                <a:effectLst/>
                <a:latin typeface="Söhne"/>
              </a:rPr>
              <a:t>igration </a:t>
            </a:r>
          </a:p>
          <a:p>
            <a:pPr>
              <a:buFont typeface="Courier New" panose="02070309020205020404" pitchFamily="49" charset="0"/>
              <a:buChar char="o"/>
            </a:pPr>
            <a:r>
              <a:rPr lang="en-US" sz="2000" dirty="0">
                <a:solidFill>
                  <a:srgbClr val="ECECF1"/>
                </a:solidFill>
                <a:latin typeface="Söhne"/>
              </a:rPr>
              <a:t>R</a:t>
            </a:r>
            <a:r>
              <a:rPr lang="en-US" sz="2000" b="0" i="0" dirty="0">
                <a:solidFill>
                  <a:srgbClr val="ECECF1"/>
                </a:solidFill>
                <a:effectLst/>
                <a:latin typeface="Söhne"/>
              </a:rPr>
              <a:t>isk reduction</a:t>
            </a:r>
          </a:p>
          <a:p>
            <a:pPr>
              <a:buFont typeface="Courier New" panose="02070309020205020404" pitchFamily="49" charset="0"/>
              <a:buChar char="o"/>
            </a:pPr>
            <a:r>
              <a:rPr lang="en-US" sz="2000" dirty="0">
                <a:solidFill>
                  <a:srgbClr val="ECECF1"/>
                </a:solidFill>
                <a:latin typeface="Söhne"/>
              </a:rPr>
              <a:t>R</a:t>
            </a:r>
            <a:r>
              <a:rPr lang="en-US" sz="2000" b="0" i="0" dirty="0">
                <a:solidFill>
                  <a:srgbClr val="ECECF1"/>
                </a:solidFill>
                <a:effectLst/>
                <a:latin typeface="Söhne"/>
              </a:rPr>
              <a:t>esource distribution</a:t>
            </a:r>
          </a:p>
          <a:p>
            <a:pPr>
              <a:buFont typeface="Courier New" panose="02070309020205020404" pitchFamily="49" charset="0"/>
              <a:buChar char="o"/>
            </a:pPr>
            <a:r>
              <a:rPr lang="en-US" sz="2000" dirty="0">
                <a:solidFill>
                  <a:srgbClr val="ECECF1"/>
                </a:solidFill>
                <a:latin typeface="Söhne"/>
              </a:rPr>
              <a:t>D</a:t>
            </a:r>
            <a:r>
              <a:rPr lang="en-US" sz="2000" b="0" i="0" dirty="0">
                <a:solidFill>
                  <a:srgbClr val="ECECF1"/>
                </a:solidFill>
                <a:effectLst/>
                <a:latin typeface="Söhne"/>
              </a:rPr>
              <a:t>ecision-making</a:t>
            </a:r>
          </a:p>
          <a:p>
            <a:r>
              <a:rPr lang="en-US" dirty="0">
                <a:solidFill>
                  <a:srgbClr val="ECECF1"/>
                </a:solidFill>
                <a:latin typeface="Söhne"/>
              </a:rPr>
              <a:t>Iterative process involving 3 iterations for reliability and transparency.</a:t>
            </a:r>
          </a:p>
          <a:p>
            <a:r>
              <a:rPr lang="en-US" dirty="0">
                <a:solidFill>
                  <a:srgbClr val="ECECF1"/>
                </a:solidFill>
                <a:latin typeface="Söhne"/>
              </a:rPr>
              <a:t>Emphasis on the flexibility and adaptability of TBW.</a:t>
            </a:r>
          </a:p>
        </p:txBody>
      </p:sp>
    </p:spTree>
    <p:extLst>
      <p:ext uri="{BB962C8B-B14F-4D97-AF65-F5344CB8AC3E}">
        <p14:creationId xmlns:p14="http://schemas.microsoft.com/office/powerpoint/2010/main" val="2790320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315E3981-F0D7-482C-A8E0-6A57700BECA7}"/>
              </a:ext>
            </a:extLst>
          </p:cNvPr>
          <p:cNvSpPr>
            <a:spLocks noGrp="1"/>
          </p:cNvSpPr>
          <p:nvPr>
            <p:ph type="title"/>
          </p:nvPr>
        </p:nvSpPr>
        <p:spPr/>
        <p:txBody>
          <a:bodyPr/>
          <a:lstStyle/>
          <a:p>
            <a:pPr algn="l"/>
            <a:r>
              <a:rPr lang="en-US" b="1" i="0" dirty="0">
                <a:solidFill>
                  <a:schemeClr val="accent2"/>
                </a:solidFill>
                <a:effectLst/>
                <a:latin typeface="Söhne"/>
              </a:rPr>
              <a:t>Key Findings</a:t>
            </a:r>
          </a:p>
        </p:txBody>
      </p:sp>
      <p:sp>
        <p:nvSpPr>
          <p:cNvPr id="2" name="Slide Number Placeholder 1">
            <a:extLst>
              <a:ext uri="{FF2B5EF4-FFF2-40B4-BE49-F238E27FC236}">
                <a16:creationId xmlns=""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 xmlns:a16="http://schemas.microsoft.com/office/drawing/2014/main" id="{B74126B4-1E6C-4FFF-9282-40E18A85A07F}"/>
              </a:ext>
            </a:extLst>
          </p:cNvPr>
          <p:cNvSpPr>
            <a:spLocks noGrp="1"/>
          </p:cNvSpPr>
          <p:nvPr>
            <p:ph type="body" sz="quarter" idx="1"/>
          </p:nvPr>
        </p:nvSpPr>
        <p:spPr/>
        <p:txBody>
          <a:bodyPr>
            <a:normAutofit/>
          </a:bodyPr>
          <a:lstStyle/>
          <a:p>
            <a:r>
              <a:rPr lang="en-US" sz="2400" i="0" dirty="0">
                <a:solidFill>
                  <a:srgbClr val="ECECF1"/>
                </a:solidFill>
                <a:effectLst/>
                <a:latin typeface="Söhne"/>
              </a:rPr>
              <a:t>TBW's influence on</a:t>
            </a:r>
            <a:endParaRPr lang="en-US" sz="2400" dirty="0"/>
          </a:p>
        </p:txBody>
      </p:sp>
      <p:sp>
        <p:nvSpPr>
          <p:cNvPr id="5" name="Text Placeholder 4">
            <a:extLst>
              <a:ext uri="{FF2B5EF4-FFF2-40B4-BE49-F238E27FC236}">
                <a16:creationId xmlns="" xmlns:a16="http://schemas.microsoft.com/office/drawing/2014/main" id="{E0C87788-476B-4620-8002-A5C1177AD6C1}"/>
              </a:ext>
            </a:extLst>
          </p:cNvPr>
          <p:cNvSpPr>
            <a:spLocks noGrp="1"/>
          </p:cNvSpPr>
          <p:nvPr>
            <p:ph type="body" sz="quarter" idx="3"/>
          </p:nvPr>
        </p:nvSpPr>
        <p:spPr/>
        <p:txBody>
          <a:bodyPr>
            <a:normAutofit fontScale="92500" lnSpcReduction="20000"/>
          </a:bodyPr>
          <a:lstStyle/>
          <a:p>
            <a:r>
              <a:rPr lang="en-US" sz="2400" i="0" dirty="0">
                <a:solidFill>
                  <a:srgbClr val="ECECF1"/>
                </a:solidFill>
                <a:effectLst/>
                <a:latin typeface="Söhne"/>
              </a:rPr>
              <a:t>Complexity of TBW's role in the evolving cloud computing environment.</a:t>
            </a:r>
            <a:endParaRPr lang="en-US" sz="2400" dirty="0"/>
          </a:p>
        </p:txBody>
      </p:sp>
      <p:sp>
        <p:nvSpPr>
          <p:cNvPr id="8" name="Text Placeholder 7">
            <a:extLst>
              <a:ext uri="{FF2B5EF4-FFF2-40B4-BE49-F238E27FC236}">
                <a16:creationId xmlns="" xmlns:a16="http://schemas.microsoft.com/office/drawing/2014/main" id="{47DC4E62-1A34-4F98-A451-214F1808519C}"/>
              </a:ext>
            </a:extLst>
          </p:cNvPr>
          <p:cNvSpPr>
            <a:spLocks noGrp="1"/>
          </p:cNvSpPr>
          <p:nvPr>
            <p:ph type="body" sz="quarter" idx="2"/>
          </p:nvPr>
        </p:nvSpPr>
        <p:spPr/>
        <p:txBody>
          <a:bodyPr>
            <a:normAutofit/>
          </a:bodyPr>
          <a:lstStyle/>
          <a:p>
            <a:r>
              <a:rPr lang="en-US" sz="2400" dirty="0">
                <a:solidFill>
                  <a:srgbClr val="ECECF1"/>
                </a:solidFill>
                <a:latin typeface="Söhne"/>
              </a:rPr>
              <a:t>D</a:t>
            </a:r>
            <a:r>
              <a:rPr lang="en-US" sz="2400" b="0" i="0" dirty="0">
                <a:solidFill>
                  <a:srgbClr val="ECECF1"/>
                </a:solidFill>
                <a:effectLst/>
                <a:latin typeface="Söhne"/>
              </a:rPr>
              <a:t>ocumentation</a:t>
            </a:r>
          </a:p>
          <a:p>
            <a:r>
              <a:rPr lang="en-US" sz="2400" dirty="0">
                <a:solidFill>
                  <a:srgbClr val="ECECF1"/>
                </a:solidFill>
                <a:latin typeface="Söhne"/>
              </a:rPr>
              <a:t>M</a:t>
            </a:r>
            <a:r>
              <a:rPr lang="en-US" sz="2400" b="0" i="0" dirty="0">
                <a:solidFill>
                  <a:srgbClr val="ECECF1"/>
                </a:solidFill>
                <a:effectLst/>
                <a:latin typeface="Söhne"/>
              </a:rPr>
              <a:t>igration strategies </a:t>
            </a:r>
          </a:p>
          <a:p>
            <a:r>
              <a:rPr lang="en-US" sz="2400" dirty="0">
                <a:solidFill>
                  <a:srgbClr val="ECECF1"/>
                </a:solidFill>
                <a:latin typeface="Söhne"/>
              </a:rPr>
              <a:t>R</a:t>
            </a:r>
            <a:r>
              <a:rPr lang="en-US" sz="2400" b="0" i="0" dirty="0">
                <a:solidFill>
                  <a:srgbClr val="ECECF1"/>
                </a:solidFill>
                <a:effectLst/>
                <a:latin typeface="Söhne"/>
              </a:rPr>
              <a:t>isk reduction</a:t>
            </a:r>
          </a:p>
          <a:p>
            <a:r>
              <a:rPr lang="en-US" sz="2400" dirty="0">
                <a:solidFill>
                  <a:srgbClr val="ECECF1"/>
                </a:solidFill>
                <a:latin typeface="Söhne"/>
              </a:rPr>
              <a:t>R</a:t>
            </a:r>
            <a:r>
              <a:rPr lang="en-US" sz="2400" b="0" i="0" dirty="0">
                <a:solidFill>
                  <a:srgbClr val="ECECF1"/>
                </a:solidFill>
                <a:effectLst/>
                <a:latin typeface="Söhne"/>
              </a:rPr>
              <a:t>esource distribution </a:t>
            </a:r>
          </a:p>
          <a:p>
            <a:r>
              <a:rPr lang="en-US" sz="2400" dirty="0">
                <a:solidFill>
                  <a:srgbClr val="ECECF1"/>
                </a:solidFill>
                <a:latin typeface="Söhne"/>
              </a:rPr>
              <a:t>S</a:t>
            </a:r>
            <a:r>
              <a:rPr lang="en-US" sz="2400" b="0" i="0" dirty="0">
                <a:solidFill>
                  <a:srgbClr val="ECECF1"/>
                </a:solidFill>
                <a:effectLst/>
                <a:latin typeface="Söhne"/>
              </a:rPr>
              <a:t>trategic decision-making</a:t>
            </a:r>
            <a:endParaRPr lang="en-US" sz="2400" dirty="0"/>
          </a:p>
        </p:txBody>
      </p:sp>
      <p:sp>
        <p:nvSpPr>
          <p:cNvPr id="6" name="Text Placeholder 5">
            <a:extLst>
              <a:ext uri="{FF2B5EF4-FFF2-40B4-BE49-F238E27FC236}">
                <a16:creationId xmlns="" xmlns:a16="http://schemas.microsoft.com/office/drawing/2014/main" id="{000A9570-5EF6-4AFB-9FCA-7C8998E3FEB1}"/>
              </a:ext>
            </a:extLst>
          </p:cNvPr>
          <p:cNvSpPr>
            <a:spLocks noGrp="1"/>
          </p:cNvSpPr>
          <p:nvPr>
            <p:ph type="body" sz="quarter" idx="4"/>
          </p:nvPr>
        </p:nvSpPr>
        <p:spPr>
          <a:xfrm>
            <a:off x="6488112" y="2737988"/>
            <a:ext cx="5183188" cy="3684588"/>
          </a:xfrm>
        </p:spPr>
        <p:txBody>
          <a:bodyPr>
            <a:normAutofit/>
          </a:bodyPr>
          <a:lstStyle/>
          <a:p>
            <a:r>
              <a:rPr lang="en-US" sz="2400" i="0" dirty="0">
                <a:effectLst/>
                <a:latin typeface="Söhne"/>
              </a:rPr>
              <a:t>Adaptability Across Phases</a:t>
            </a:r>
          </a:p>
          <a:p>
            <a:r>
              <a:rPr lang="en-US" sz="2400" i="0" dirty="0">
                <a:effectLst/>
                <a:latin typeface="Söhne"/>
              </a:rPr>
              <a:t>Influence on Varied Aspects</a:t>
            </a:r>
          </a:p>
          <a:p>
            <a:r>
              <a:rPr lang="en-US" sz="2400" i="0" dirty="0">
                <a:effectLst/>
                <a:latin typeface="Söhne"/>
              </a:rPr>
              <a:t>Navigating the Evolving Landscape</a:t>
            </a:r>
            <a:endParaRPr lang="en-US" sz="2400"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D179B88-D43C-4A31-9A52-3498E9430782}"/>
              </a:ext>
            </a:extLst>
          </p:cNvPr>
          <p:cNvSpPr>
            <a:spLocks noGrp="1"/>
          </p:cNvSpPr>
          <p:nvPr>
            <p:ph type="title"/>
          </p:nvPr>
        </p:nvSpPr>
        <p:spPr>
          <a:xfrm>
            <a:off x="444500" y="542925"/>
            <a:ext cx="11214100" cy="535531"/>
          </a:xfrm>
        </p:spPr>
        <p:txBody>
          <a:bodyPr wrap="square" anchor="t">
            <a:normAutofit/>
          </a:bodyPr>
          <a:lstStyle/>
          <a:p>
            <a:r>
              <a:rPr lang="en-US" dirty="0">
                <a:solidFill>
                  <a:schemeClr val="accent2"/>
                </a:solidFill>
              </a:rPr>
              <a:t>Resources for Budget Allocation</a:t>
            </a:r>
          </a:p>
        </p:txBody>
      </p:sp>
      <p:sp>
        <p:nvSpPr>
          <p:cNvPr id="2" name="Slide Number Placeholder 1">
            <a:extLst>
              <a:ext uri="{FF2B5EF4-FFF2-40B4-BE49-F238E27FC236}">
                <a16:creationId xmlns="" xmlns:a16="http://schemas.microsoft.com/office/drawing/2014/main" id="{8B065C75-272B-4BB5-BA23-D80E8654D621}"/>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6</a:t>
            </a:fld>
            <a:endParaRPr lang="en-US"/>
          </a:p>
        </p:txBody>
      </p:sp>
      <p:sp>
        <p:nvSpPr>
          <p:cNvPr id="5" name="Text Placeholder 4">
            <a:extLst>
              <a:ext uri="{FF2B5EF4-FFF2-40B4-BE49-F238E27FC236}">
                <a16:creationId xmlns="" xmlns:a16="http://schemas.microsoft.com/office/drawing/2014/main" id="{DCDDBE65-9AB1-4989-AF86-726591A6A128}"/>
              </a:ext>
            </a:extLst>
          </p:cNvPr>
          <p:cNvSpPr>
            <a:spLocks noGrp="1"/>
          </p:cNvSpPr>
          <p:nvPr>
            <p:ph sz="half" idx="1"/>
          </p:nvPr>
        </p:nvSpPr>
        <p:spPr>
          <a:xfrm>
            <a:off x="443365" y="1517715"/>
            <a:ext cx="5184437" cy="4659248"/>
          </a:xfrm>
        </p:spPr>
        <p:txBody>
          <a:bodyPr>
            <a:normAutofit/>
          </a:bodyPr>
          <a:lstStyle/>
          <a:p>
            <a:r>
              <a:rPr lang="en-US" sz="2800" i="0" dirty="0">
                <a:effectLst/>
                <a:latin typeface="Söhne"/>
              </a:rPr>
              <a:t>Diverse Resource Allocation</a:t>
            </a:r>
          </a:p>
          <a:p>
            <a:pPr marL="0" indent="0">
              <a:buNone/>
            </a:pPr>
            <a:endParaRPr lang="en-US" sz="2800" i="0" dirty="0">
              <a:effectLst/>
              <a:latin typeface="Söhne"/>
            </a:endParaRPr>
          </a:p>
          <a:p>
            <a:r>
              <a:rPr lang="en-US" sz="2800" i="0" dirty="0">
                <a:effectLst/>
                <a:latin typeface="Söhne"/>
              </a:rPr>
              <a:t>Strategic Emphasis on Skills</a:t>
            </a:r>
          </a:p>
          <a:p>
            <a:pPr marL="0" indent="0">
              <a:buNone/>
            </a:pPr>
            <a:endParaRPr lang="en-US" sz="2800" dirty="0">
              <a:latin typeface="Söhne"/>
            </a:endParaRPr>
          </a:p>
          <a:p>
            <a:r>
              <a:rPr lang="en-US" sz="2800" i="0" dirty="0">
                <a:effectLst/>
                <a:latin typeface="Söhne"/>
              </a:rPr>
              <a:t>Balanced Service Allocation</a:t>
            </a:r>
          </a:p>
          <a:p>
            <a:pPr marL="0" indent="0">
              <a:buNone/>
            </a:pPr>
            <a:endParaRPr lang="en-US" sz="2800" i="0" dirty="0">
              <a:effectLst/>
              <a:latin typeface="Söhne"/>
            </a:endParaRPr>
          </a:p>
          <a:p>
            <a:r>
              <a:rPr lang="en-US" sz="2800" i="0" dirty="0">
                <a:effectLst/>
                <a:latin typeface="Söhne"/>
              </a:rPr>
              <a:t>Client Budget as a Priority</a:t>
            </a:r>
            <a:endParaRPr lang="en-US" sz="2800" dirty="0"/>
          </a:p>
        </p:txBody>
      </p:sp>
      <p:pic>
        <p:nvPicPr>
          <p:cNvPr id="3" name="Picture 2" descr="A pie chart with numbers and a few words&#10;&#10;Description automatically generated">
            <a:extLst>
              <a:ext uri="{FF2B5EF4-FFF2-40B4-BE49-F238E27FC236}">
                <a16:creationId xmlns="" xmlns:a16="http://schemas.microsoft.com/office/drawing/2014/main" id="{CDD51FDC-B0F3-E131-D078-F21B7C70BB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474163" y="2246644"/>
            <a:ext cx="5184437" cy="3201389"/>
          </a:xfrm>
          <a:prstGeom prst="rect">
            <a:avLst/>
          </a:prstGeom>
          <a:noFill/>
          <a:ln>
            <a:noFill/>
          </a:ln>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3BD8413-C238-49D7-A4E1-E8FEF1811A0E}"/>
              </a:ext>
            </a:extLst>
          </p:cNvPr>
          <p:cNvSpPr>
            <a:spLocks noGrp="1"/>
          </p:cNvSpPr>
          <p:nvPr>
            <p:ph type="title"/>
          </p:nvPr>
        </p:nvSpPr>
        <p:spPr>
          <a:xfrm>
            <a:off x="1453207" y="521899"/>
            <a:ext cx="7781544" cy="859055"/>
          </a:xfrm>
        </p:spPr>
        <p:txBody>
          <a:bodyPr>
            <a:normAutofit/>
          </a:bodyPr>
          <a:lstStyle/>
          <a:p>
            <a:pPr algn="l"/>
            <a:r>
              <a:rPr lang="en-US" sz="4000" b="1" i="0" dirty="0">
                <a:solidFill>
                  <a:schemeClr val="accent2"/>
                </a:solidFill>
                <a:effectLst/>
                <a:latin typeface="Söhne"/>
              </a:rPr>
              <a:t>Alignment with Objectives</a:t>
            </a:r>
          </a:p>
        </p:txBody>
      </p:sp>
      <p:sp>
        <p:nvSpPr>
          <p:cNvPr id="2" name="Slide Number Placeholder 1">
            <a:extLst>
              <a:ext uri="{FF2B5EF4-FFF2-40B4-BE49-F238E27FC236}">
                <a16:creationId xmlns=""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3" name="Text Placeholder 9">
            <a:extLst>
              <a:ext uri="{FF2B5EF4-FFF2-40B4-BE49-F238E27FC236}">
                <a16:creationId xmlns="" xmlns:a16="http://schemas.microsoft.com/office/drawing/2014/main" id="{18A73237-F93A-D2F9-30D7-71DCFDF64387}"/>
              </a:ext>
            </a:extLst>
          </p:cNvPr>
          <p:cNvSpPr txBox="1">
            <a:spLocks/>
          </p:cNvSpPr>
          <p:nvPr/>
        </p:nvSpPr>
        <p:spPr>
          <a:xfrm>
            <a:off x="548497" y="1700131"/>
            <a:ext cx="6718300" cy="4390117"/>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ECECF1"/>
                </a:solidFill>
                <a:latin typeface="Söhne"/>
              </a:rPr>
              <a:t>How findings align with initial </a:t>
            </a:r>
            <a:r>
              <a:rPr lang="en-US" sz="3200" b="1" dirty="0">
                <a:solidFill>
                  <a:srgbClr val="ECECF1"/>
                </a:solidFill>
                <a:latin typeface="Söhne"/>
              </a:rPr>
              <a:t>research objectives</a:t>
            </a:r>
          </a:p>
          <a:p>
            <a:r>
              <a:rPr lang="en-US" b="0" i="0" dirty="0">
                <a:solidFill>
                  <a:srgbClr val="ECECF1"/>
                </a:solidFill>
                <a:effectLst/>
                <a:latin typeface="Söhne"/>
              </a:rPr>
              <a:t>Themes identified directly related to the goals of understanding TBW in cloud computing</a:t>
            </a:r>
            <a:endParaRPr lang="en-US" sz="3200" b="0" i="0" dirty="0">
              <a:solidFill>
                <a:srgbClr val="ECECF1"/>
              </a:solidFill>
              <a:effectLst/>
              <a:latin typeface="Söhne"/>
            </a:endParaRPr>
          </a:p>
          <a:p>
            <a:r>
              <a:rPr lang="en-US" b="0" i="0" dirty="0">
                <a:solidFill>
                  <a:srgbClr val="ECECF1"/>
                </a:solidFill>
                <a:effectLst/>
                <a:latin typeface="Söhne"/>
              </a:rPr>
              <a:t>Validation of the </a:t>
            </a:r>
            <a:r>
              <a:rPr lang="en-US" b="1" i="0" dirty="0">
                <a:solidFill>
                  <a:srgbClr val="ECECF1"/>
                </a:solidFill>
                <a:effectLst/>
                <a:latin typeface="Söhne"/>
              </a:rPr>
              <a:t>study's accomplishment</a:t>
            </a:r>
            <a:endParaRPr lang="en-US" b="1" dirty="0">
              <a:solidFill>
                <a:srgbClr val="ECECF1"/>
              </a:solidFill>
              <a:latin typeface="Söhne"/>
            </a:endParaRPr>
          </a:p>
        </p:txBody>
      </p:sp>
    </p:spTree>
    <p:extLst>
      <p:ext uri="{BB962C8B-B14F-4D97-AF65-F5344CB8AC3E}">
        <p14:creationId xmlns:p14="http://schemas.microsoft.com/office/powerpoint/2010/main" val="4020955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315E3981-F0D7-482C-A8E0-6A57700BECA7}"/>
              </a:ext>
            </a:extLst>
          </p:cNvPr>
          <p:cNvSpPr>
            <a:spLocks noGrp="1"/>
          </p:cNvSpPr>
          <p:nvPr>
            <p:ph type="title"/>
          </p:nvPr>
        </p:nvSpPr>
        <p:spPr/>
        <p:txBody>
          <a:bodyPr/>
          <a:lstStyle/>
          <a:p>
            <a:pPr algn="l"/>
            <a:r>
              <a:rPr lang="en-US" b="1" i="0" dirty="0">
                <a:solidFill>
                  <a:schemeClr val="accent2"/>
                </a:solidFill>
                <a:effectLst/>
                <a:latin typeface="Söhne"/>
              </a:rPr>
              <a:t>Roles of TBW in Cloud Computing</a:t>
            </a:r>
          </a:p>
        </p:txBody>
      </p:sp>
      <p:sp>
        <p:nvSpPr>
          <p:cNvPr id="2" name="Slide Number Placeholder 1">
            <a:extLst>
              <a:ext uri="{FF2B5EF4-FFF2-40B4-BE49-F238E27FC236}">
                <a16:creationId xmlns=""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7" name="Text Placeholder 6">
            <a:extLst>
              <a:ext uri="{FF2B5EF4-FFF2-40B4-BE49-F238E27FC236}">
                <a16:creationId xmlns="" xmlns:a16="http://schemas.microsoft.com/office/drawing/2014/main" id="{B74126B4-1E6C-4FFF-9282-40E18A85A07F}"/>
              </a:ext>
            </a:extLst>
          </p:cNvPr>
          <p:cNvSpPr>
            <a:spLocks noGrp="1"/>
          </p:cNvSpPr>
          <p:nvPr>
            <p:ph type="body" sz="quarter" idx="1"/>
          </p:nvPr>
        </p:nvSpPr>
        <p:spPr/>
        <p:txBody>
          <a:bodyPr>
            <a:normAutofit/>
          </a:bodyPr>
          <a:lstStyle/>
          <a:p>
            <a:r>
              <a:rPr lang="en-US" sz="2400" i="0" dirty="0">
                <a:solidFill>
                  <a:srgbClr val="ECECF1"/>
                </a:solidFill>
                <a:effectLst/>
                <a:latin typeface="Söhne"/>
              </a:rPr>
              <a:t>TBW's crucial role in</a:t>
            </a:r>
            <a:endParaRPr lang="en-US" sz="2800" dirty="0"/>
          </a:p>
        </p:txBody>
      </p:sp>
      <p:sp>
        <p:nvSpPr>
          <p:cNvPr id="5" name="Text Placeholder 4">
            <a:extLst>
              <a:ext uri="{FF2B5EF4-FFF2-40B4-BE49-F238E27FC236}">
                <a16:creationId xmlns="" xmlns:a16="http://schemas.microsoft.com/office/drawing/2014/main" id="{E0C87788-476B-4620-8002-A5C1177AD6C1}"/>
              </a:ext>
            </a:extLst>
          </p:cNvPr>
          <p:cNvSpPr>
            <a:spLocks noGrp="1"/>
          </p:cNvSpPr>
          <p:nvPr>
            <p:ph type="body" sz="quarter" idx="3"/>
          </p:nvPr>
        </p:nvSpPr>
        <p:spPr/>
        <p:txBody>
          <a:bodyPr>
            <a:normAutofit/>
          </a:bodyPr>
          <a:lstStyle/>
          <a:p>
            <a:r>
              <a:rPr lang="en-US" sz="2400" i="0" dirty="0">
                <a:solidFill>
                  <a:srgbClr val="ECECF1"/>
                </a:solidFill>
                <a:effectLst/>
                <a:latin typeface="Söhne"/>
              </a:rPr>
              <a:t>Importance of TBW in</a:t>
            </a:r>
            <a:endParaRPr lang="en-US" sz="2800" dirty="0"/>
          </a:p>
        </p:txBody>
      </p:sp>
      <p:sp>
        <p:nvSpPr>
          <p:cNvPr id="8" name="Text Placeholder 7">
            <a:extLst>
              <a:ext uri="{FF2B5EF4-FFF2-40B4-BE49-F238E27FC236}">
                <a16:creationId xmlns="" xmlns:a16="http://schemas.microsoft.com/office/drawing/2014/main" id="{47DC4E62-1A34-4F98-A451-214F1808519C}"/>
              </a:ext>
            </a:extLst>
          </p:cNvPr>
          <p:cNvSpPr>
            <a:spLocks noGrp="1"/>
          </p:cNvSpPr>
          <p:nvPr>
            <p:ph type="body" sz="quarter" idx="2"/>
          </p:nvPr>
        </p:nvSpPr>
        <p:spPr/>
        <p:txBody>
          <a:bodyPr>
            <a:normAutofit/>
          </a:bodyPr>
          <a:lstStyle/>
          <a:p>
            <a:r>
              <a:rPr lang="en-US" sz="2800" dirty="0">
                <a:solidFill>
                  <a:srgbClr val="ECECF1"/>
                </a:solidFill>
                <a:latin typeface="Söhne"/>
              </a:rPr>
              <a:t>M</a:t>
            </a:r>
            <a:r>
              <a:rPr lang="en-US" sz="2800" b="0" i="0" dirty="0">
                <a:solidFill>
                  <a:srgbClr val="ECECF1"/>
                </a:solidFill>
                <a:effectLst/>
                <a:latin typeface="Söhne"/>
              </a:rPr>
              <a:t>aintaining project clarity</a:t>
            </a:r>
          </a:p>
          <a:p>
            <a:r>
              <a:rPr lang="en-US" sz="2800" b="0" i="0" dirty="0">
                <a:solidFill>
                  <a:srgbClr val="ECECF1"/>
                </a:solidFill>
                <a:effectLst/>
                <a:latin typeface="Söhne"/>
              </a:rPr>
              <a:t>Documenting requirements</a:t>
            </a:r>
          </a:p>
          <a:p>
            <a:r>
              <a:rPr lang="en-US" sz="2800" dirty="0">
                <a:solidFill>
                  <a:srgbClr val="ECECF1"/>
                </a:solidFill>
                <a:latin typeface="Söhne"/>
              </a:rPr>
              <a:t>C</a:t>
            </a:r>
            <a:r>
              <a:rPr lang="en-US" sz="2800" b="0" i="0" dirty="0">
                <a:solidFill>
                  <a:srgbClr val="ECECF1"/>
                </a:solidFill>
                <a:effectLst/>
                <a:latin typeface="Söhne"/>
              </a:rPr>
              <a:t>lient input</a:t>
            </a:r>
          </a:p>
          <a:p>
            <a:r>
              <a:rPr lang="en-US" sz="2800" dirty="0">
                <a:solidFill>
                  <a:srgbClr val="ECECF1"/>
                </a:solidFill>
                <a:latin typeface="Söhne"/>
              </a:rPr>
              <a:t>S</a:t>
            </a:r>
            <a:r>
              <a:rPr lang="en-US" sz="2800" b="0" i="0" dirty="0">
                <a:solidFill>
                  <a:srgbClr val="ECECF1"/>
                </a:solidFill>
                <a:effectLst/>
                <a:latin typeface="Söhne"/>
              </a:rPr>
              <a:t>oftware architecture</a:t>
            </a:r>
            <a:endParaRPr lang="en-US" sz="2800" dirty="0"/>
          </a:p>
        </p:txBody>
      </p:sp>
      <p:sp>
        <p:nvSpPr>
          <p:cNvPr id="6" name="Text Placeholder 5">
            <a:extLst>
              <a:ext uri="{FF2B5EF4-FFF2-40B4-BE49-F238E27FC236}">
                <a16:creationId xmlns="" xmlns:a16="http://schemas.microsoft.com/office/drawing/2014/main" id="{000A9570-5EF6-4AFB-9FCA-7C8998E3FEB1}"/>
              </a:ext>
            </a:extLst>
          </p:cNvPr>
          <p:cNvSpPr>
            <a:spLocks noGrp="1"/>
          </p:cNvSpPr>
          <p:nvPr>
            <p:ph type="body" sz="quarter" idx="4"/>
          </p:nvPr>
        </p:nvSpPr>
        <p:spPr>
          <a:xfrm>
            <a:off x="6488112" y="2737988"/>
            <a:ext cx="5183188" cy="3684588"/>
          </a:xfrm>
        </p:spPr>
        <p:txBody>
          <a:bodyPr>
            <a:normAutofit/>
          </a:bodyPr>
          <a:lstStyle/>
          <a:p>
            <a:r>
              <a:rPr lang="en-US" sz="2800" dirty="0">
                <a:solidFill>
                  <a:srgbClr val="ECECF1"/>
                </a:solidFill>
                <a:latin typeface="Söhne"/>
              </a:rPr>
              <a:t>U</a:t>
            </a:r>
            <a:r>
              <a:rPr lang="en-US" sz="2800" b="0" i="0" dirty="0">
                <a:solidFill>
                  <a:srgbClr val="ECECF1"/>
                </a:solidFill>
                <a:effectLst/>
                <a:latin typeface="Söhne"/>
              </a:rPr>
              <a:t>nderstanding cloud architecture for migration plans</a:t>
            </a:r>
          </a:p>
          <a:p>
            <a:r>
              <a:rPr lang="en-US" sz="2800" dirty="0">
                <a:solidFill>
                  <a:srgbClr val="ECECF1"/>
                </a:solidFill>
                <a:latin typeface="Söhne"/>
              </a:rPr>
              <a:t>D</a:t>
            </a:r>
            <a:r>
              <a:rPr lang="en-US" sz="2800" b="0" i="0" dirty="0">
                <a:solidFill>
                  <a:srgbClr val="ECECF1"/>
                </a:solidFill>
                <a:effectLst/>
                <a:latin typeface="Söhne"/>
              </a:rPr>
              <a:t>ocument formatting and structure</a:t>
            </a:r>
            <a:endParaRPr lang="en-US" sz="2800" dirty="0"/>
          </a:p>
        </p:txBody>
      </p:sp>
    </p:spTree>
    <p:extLst>
      <p:ext uri="{BB962C8B-B14F-4D97-AF65-F5344CB8AC3E}">
        <p14:creationId xmlns:p14="http://schemas.microsoft.com/office/powerpoint/2010/main" val="195809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3BD8413-C238-49D7-A4E1-E8FEF1811A0E}"/>
              </a:ext>
            </a:extLst>
          </p:cNvPr>
          <p:cNvSpPr>
            <a:spLocks noGrp="1"/>
          </p:cNvSpPr>
          <p:nvPr>
            <p:ph type="title"/>
          </p:nvPr>
        </p:nvSpPr>
        <p:spPr>
          <a:xfrm>
            <a:off x="1453207" y="521899"/>
            <a:ext cx="7781544" cy="859055"/>
          </a:xfrm>
        </p:spPr>
        <p:txBody>
          <a:bodyPr>
            <a:normAutofit/>
          </a:bodyPr>
          <a:lstStyle/>
          <a:p>
            <a:pPr algn="l"/>
            <a:r>
              <a:rPr lang="en-US" sz="4000" b="1" i="0" dirty="0">
                <a:solidFill>
                  <a:schemeClr val="accent2"/>
                </a:solidFill>
                <a:effectLst/>
                <a:latin typeface="Söhne"/>
              </a:rPr>
              <a:t>Implications of Findings</a:t>
            </a:r>
          </a:p>
        </p:txBody>
      </p:sp>
      <p:sp>
        <p:nvSpPr>
          <p:cNvPr id="2" name="Slide Number Placeholder 1">
            <a:extLst>
              <a:ext uri="{FF2B5EF4-FFF2-40B4-BE49-F238E27FC236}">
                <a16:creationId xmlns=""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3" name="Text Placeholder 9">
            <a:extLst>
              <a:ext uri="{FF2B5EF4-FFF2-40B4-BE49-F238E27FC236}">
                <a16:creationId xmlns="" xmlns:a16="http://schemas.microsoft.com/office/drawing/2014/main" id="{18A73237-F93A-D2F9-30D7-71DCFDF64387}"/>
              </a:ext>
            </a:extLst>
          </p:cNvPr>
          <p:cNvSpPr txBox="1">
            <a:spLocks/>
          </p:cNvSpPr>
          <p:nvPr/>
        </p:nvSpPr>
        <p:spPr>
          <a:xfrm>
            <a:off x="548497" y="1700131"/>
            <a:ext cx="6718300" cy="4390117"/>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i="0" dirty="0">
                <a:solidFill>
                  <a:srgbClr val="ECECF1"/>
                </a:solidFill>
                <a:effectLst/>
                <a:latin typeface="Söhne"/>
              </a:rPr>
              <a:t>Practical and theoretical implications</a:t>
            </a:r>
          </a:p>
          <a:p>
            <a:pPr marL="0" indent="0">
              <a:buNone/>
            </a:pPr>
            <a:endParaRPr lang="en-US" b="0" i="0" dirty="0">
              <a:solidFill>
                <a:srgbClr val="ECECF1"/>
              </a:solidFill>
              <a:effectLst/>
              <a:latin typeface="Söhne"/>
            </a:endParaRPr>
          </a:p>
          <a:p>
            <a:r>
              <a:rPr lang="en-US" b="0" i="0" dirty="0">
                <a:solidFill>
                  <a:srgbClr val="ECECF1"/>
                </a:solidFill>
                <a:effectLst/>
                <a:latin typeface="Söhne"/>
              </a:rPr>
              <a:t>Significance of TBW in different phases of development</a:t>
            </a:r>
          </a:p>
          <a:p>
            <a:pPr marL="0" indent="0">
              <a:buNone/>
            </a:pPr>
            <a:endParaRPr lang="en-US" b="0" i="0" dirty="0">
              <a:solidFill>
                <a:srgbClr val="ECECF1"/>
              </a:solidFill>
              <a:effectLst/>
              <a:latin typeface="Söhne"/>
            </a:endParaRPr>
          </a:p>
          <a:p>
            <a:r>
              <a:rPr lang="en-US" b="0" i="0" dirty="0">
                <a:solidFill>
                  <a:srgbClr val="ECECF1"/>
                </a:solidFill>
                <a:effectLst/>
                <a:latin typeface="Söhne"/>
              </a:rPr>
              <a:t>Importance of flexibility in TBW to meet the needs of specific customers</a:t>
            </a:r>
            <a:endParaRPr lang="en-US" b="1" dirty="0">
              <a:solidFill>
                <a:srgbClr val="ECECF1"/>
              </a:solidFill>
              <a:latin typeface="Söhne"/>
            </a:endParaRPr>
          </a:p>
        </p:txBody>
      </p:sp>
    </p:spTree>
    <p:extLst>
      <p:ext uri="{BB962C8B-B14F-4D97-AF65-F5344CB8AC3E}">
        <p14:creationId xmlns:p14="http://schemas.microsoft.com/office/powerpoint/2010/main" val="19759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3BD8413-C238-49D7-A4E1-E8FEF1811A0E}"/>
              </a:ext>
            </a:extLst>
          </p:cNvPr>
          <p:cNvSpPr>
            <a:spLocks noGrp="1"/>
          </p:cNvSpPr>
          <p:nvPr>
            <p:ph type="title"/>
          </p:nvPr>
        </p:nvSpPr>
        <p:spPr>
          <a:xfrm>
            <a:off x="1453207" y="521899"/>
            <a:ext cx="7781544" cy="859055"/>
          </a:xfrm>
        </p:spPr>
        <p:txBody>
          <a:bodyPr>
            <a:normAutofit/>
          </a:bodyPr>
          <a:lstStyle/>
          <a:p>
            <a:pPr algn="l"/>
            <a:r>
              <a:rPr lang="en-US" sz="4000" b="1" i="0" dirty="0">
                <a:solidFill>
                  <a:schemeClr val="accent2"/>
                </a:solidFill>
                <a:effectLst/>
                <a:latin typeface="Söhne"/>
              </a:rPr>
              <a:t>Conclusion and Future Outlook</a:t>
            </a:r>
          </a:p>
        </p:txBody>
      </p:sp>
      <p:sp>
        <p:nvSpPr>
          <p:cNvPr id="2" name="Slide Number Placeholder 1">
            <a:extLst>
              <a:ext uri="{FF2B5EF4-FFF2-40B4-BE49-F238E27FC236}">
                <a16:creationId xmlns=""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
        <p:nvSpPr>
          <p:cNvPr id="3" name="Text Placeholder 9">
            <a:extLst>
              <a:ext uri="{FF2B5EF4-FFF2-40B4-BE49-F238E27FC236}">
                <a16:creationId xmlns="" xmlns:a16="http://schemas.microsoft.com/office/drawing/2014/main" id="{18A73237-F93A-D2F9-30D7-71DCFDF64387}"/>
              </a:ext>
            </a:extLst>
          </p:cNvPr>
          <p:cNvSpPr txBox="1">
            <a:spLocks/>
          </p:cNvSpPr>
          <p:nvPr/>
        </p:nvSpPr>
        <p:spPr>
          <a:xfrm>
            <a:off x="548497" y="1700131"/>
            <a:ext cx="6718300" cy="4390117"/>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i="0" dirty="0">
                <a:solidFill>
                  <a:srgbClr val="ECECF1"/>
                </a:solidFill>
                <a:effectLst/>
                <a:latin typeface="Söhne"/>
              </a:rPr>
              <a:t>TBW's integral role in cloud computing</a:t>
            </a:r>
          </a:p>
          <a:p>
            <a:pPr marL="0" indent="0">
              <a:buNone/>
            </a:pPr>
            <a:endParaRPr lang="en-US" b="0" i="0" dirty="0">
              <a:solidFill>
                <a:srgbClr val="ECECF1"/>
              </a:solidFill>
              <a:effectLst/>
              <a:latin typeface="Söhne"/>
            </a:endParaRPr>
          </a:p>
          <a:p>
            <a:r>
              <a:rPr lang="en-US" dirty="0">
                <a:solidFill>
                  <a:srgbClr val="ECECF1"/>
                </a:solidFill>
                <a:latin typeface="Söhne"/>
              </a:rPr>
              <a:t>H</a:t>
            </a:r>
            <a:r>
              <a:rPr lang="en-US" b="0" i="0" dirty="0">
                <a:solidFill>
                  <a:srgbClr val="ECECF1"/>
                </a:solidFill>
                <a:effectLst/>
                <a:latin typeface="Söhne"/>
              </a:rPr>
              <a:t>ow TBW will continue to shape the field</a:t>
            </a:r>
          </a:p>
          <a:p>
            <a:pPr marL="0" indent="0">
              <a:buNone/>
            </a:pPr>
            <a:endParaRPr lang="en-US" b="0" i="0" dirty="0">
              <a:solidFill>
                <a:srgbClr val="ECECF1"/>
              </a:solidFill>
              <a:effectLst/>
              <a:latin typeface="Söhne"/>
            </a:endParaRPr>
          </a:p>
          <a:p>
            <a:r>
              <a:rPr lang="en-US" dirty="0">
                <a:solidFill>
                  <a:srgbClr val="ECECF1"/>
                </a:solidFill>
                <a:latin typeface="Söhne"/>
              </a:rPr>
              <a:t>O</a:t>
            </a:r>
            <a:r>
              <a:rPr lang="en-US" b="0" i="0" dirty="0">
                <a:solidFill>
                  <a:srgbClr val="ECECF1"/>
                </a:solidFill>
                <a:effectLst/>
                <a:latin typeface="Söhne"/>
              </a:rPr>
              <a:t>ngoing importance in evolving client needs and cloud computing landscape</a:t>
            </a:r>
            <a:endParaRPr lang="en-US" b="1" dirty="0">
              <a:solidFill>
                <a:srgbClr val="ECECF1"/>
              </a:solidFill>
              <a:latin typeface="Söhne"/>
            </a:endParaRPr>
          </a:p>
        </p:txBody>
      </p:sp>
    </p:spTree>
    <p:extLst>
      <p:ext uri="{BB962C8B-B14F-4D97-AF65-F5344CB8AC3E}">
        <p14:creationId xmlns:p14="http://schemas.microsoft.com/office/powerpoint/2010/main" val="344444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2BE5BF-9922-45FB-8F3F-4446D40A051B}"/>
              </a:ext>
            </a:extLst>
          </p:cNvPr>
          <p:cNvSpPr>
            <a:spLocks noGrp="1"/>
          </p:cNvSpPr>
          <p:nvPr>
            <p:ph type="ctrTitle"/>
          </p:nvPr>
        </p:nvSpPr>
        <p:spPr>
          <a:xfrm>
            <a:off x="4081549" y="2585259"/>
            <a:ext cx="7847214" cy="3183774"/>
          </a:xfrm>
        </p:spPr>
        <p:txBody>
          <a:bodyPr/>
          <a:lstStyle/>
          <a:p>
            <a:r>
              <a:rPr lang="en-US" sz="1600" dirty="0" smtClean="0"/>
              <a:t/>
            </a:r>
            <a:br>
              <a:rPr lang="en-US" sz="1600" dirty="0" smtClean="0"/>
            </a:br>
            <a:r>
              <a:rPr lang="en-US" sz="1600" dirty="0" smtClean="0"/>
              <a:t/>
            </a:r>
            <a:br>
              <a:rPr lang="en-US" sz="1600" dirty="0" smtClean="0"/>
            </a:br>
            <a:r>
              <a:rPr lang="en-US" sz="1600" dirty="0" smtClean="0"/>
              <a:t>- </a:t>
            </a:r>
            <a:r>
              <a:rPr lang="en-US" sz="1600" dirty="0" err="1" smtClean="0"/>
              <a:t>Cherryleaf</a:t>
            </a:r>
            <a:r>
              <a:rPr lang="en-US" sz="1600" dirty="0"/>
              <a:t>. (2023). Technical writing in the </a:t>
            </a:r>
            <a:r>
              <a:rPr lang="en-US" sz="1600" dirty="0" smtClean="0"/>
              <a:t>cloud computing. </a:t>
            </a:r>
            <a:r>
              <a:rPr lang="en-US" sz="1600" dirty="0" err="1"/>
              <a:t>Cherryleaf</a:t>
            </a:r>
            <a:r>
              <a:rPr lang="en-US" sz="1600" dirty="0" smtClean="0"/>
              <a:t>.</a:t>
            </a:r>
            <a:br>
              <a:rPr lang="en-US" sz="1600" dirty="0" smtClean="0"/>
            </a:br>
            <a:r>
              <a:rPr lang="en-US" sz="1600" dirty="0"/>
              <a:t/>
            </a:r>
            <a:br>
              <a:rPr lang="en-US" sz="1600" dirty="0"/>
            </a:br>
            <a:r>
              <a:rPr lang="en-US" sz="1600" dirty="0" smtClean="0"/>
              <a:t>- EDC </a:t>
            </a:r>
            <a:r>
              <a:rPr lang="en-US" sz="1600" dirty="0"/>
              <a:t>Technical Writing. (2023). Cloud Computing Documentation. EDC Technical Writing</a:t>
            </a:r>
            <a:r>
              <a:rPr lang="en-US" sz="1600" dirty="0" smtClean="0"/>
              <a:t>.</a:t>
            </a:r>
            <a:br>
              <a:rPr lang="en-US" sz="1600" dirty="0" smtClean="0"/>
            </a:br>
            <a:r>
              <a:rPr lang="en-US" sz="1600" dirty="0"/>
              <a:t/>
            </a:r>
            <a:br>
              <a:rPr lang="en-US" sz="1600" dirty="0"/>
            </a:br>
            <a:r>
              <a:rPr lang="en-US" sz="1600" dirty="0" smtClean="0"/>
              <a:t>- </a:t>
            </a:r>
            <a:r>
              <a:rPr lang="en-US" sz="1600" dirty="0" err="1" smtClean="0"/>
              <a:t>Sani</a:t>
            </a:r>
            <a:r>
              <a:rPr lang="en-US" sz="1600" dirty="0"/>
              <a:t>, Z. (2023). Interview on the role of Technical Business Writing in Cloud Computing. Personal communication</a:t>
            </a:r>
            <a:r>
              <a:rPr lang="en-US" sz="1600" dirty="0" smtClean="0"/>
              <a:t>.</a:t>
            </a:r>
            <a:br>
              <a:rPr lang="en-US" sz="1600" dirty="0" smtClean="0"/>
            </a:br>
            <a:r>
              <a:rPr lang="en-US" sz="1600" dirty="0"/>
              <a:t/>
            </a:r>
            <a:br>
              <a:rPr lang="en-US" sz="1600" dirty="0"/>
            </a:br>
            <a:r>
              <a:rPr lang="en-US" sz="1600" dirty="0" smtClean="0"/>
              <a:t>- Smith</a:t>
            </a:r>
            <a:r>
              <a:rPr lang="en-US" sz="1600" dirty="0"/>
              <a:t>, J. (2023). The Role of Technical Business Writing in Cloud Computing. Journal of Cloud Computing, 23(4), 123-145</a:t>
            </a:r>
            <a:r>
              <a:rPr lang="en-US" sz="1600" dirty="0" smtClean="0"/>
              <a:t>.</a:t>
            </a:r>
            <a:br>
              <a:rPr lang="en-US" sz="1600" dirty="0" smtClean="0"/>
            </a:br>
            <a:r>
              <a:rPr lang="en-US" sz="1600" dirty="0"/>
              <a:t/>
            </a:r>
            <a:br>
              <a:rPr lang="en-US" sz="1600" dirty="0"/>
            </a:br>
            <a:r>
              <a:rPr lang="en-US" sz="1600" dirty="0" smtClean="0"/>
              <a:t>- Johnson</a:t>
            </a:r>
            <a:r>
              <a:rPr lang="en-US" sz="1600" dirty="0"/>
              <a:t>, K. (2023). Mitigating Risks in Cloud Migration using Technical Business Writing. Cloud Computing Today, 12(7), 56-7</a:t>
            </a:r>
            <a:r>
              <a:rPr lang="en-GB" sz="1600" dirty="0"/>
              <a:t/>
            </a:r>
            <a:br>
              <a:rPr lang="en-GB" sz="1600" dirty="0"/>
            </a:br>
            <a:endParaRPr lang="en-GB" sz="1600" dirty="0"/>
          </a:p>
        </p:txBody>
      </p:sp>
      <p:sp>
        <p:nvSpPr>
          <p:cNvPr id="3" name="Title 3">
            <a:extLst>
              <a:ext uri="{FF2B5EF4-FFF2-40B4-BE49-F238E27FC236}">
                <a16:creationId xmlns="" xmlns:a16="http://schemas.microsoft.com/office/drawing/2014/main" id="{8B426C3B-63E9-3906-19E0-4F4020E8DB79}"/>
              </a:ext>
            </a:extLst>
          </p:cNvPr>
          <p:cNvSpPr txBox="1">
            <a:spLocks/>
          </p:cNvSpPr>
          <p:nvPr/>
        </p:nvSpPr>
        <p:spPr>
          <a:xfrm>
            <a:off x="6344384" y="3912770"/>
            <a:ext cx="7781544" cy="8590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GB" sz="5400" b="1" kern="1200" dirty="0">
                <a:solidFill>
                  <a:schemeClr val="bg1"/>
                </a:solidFill>
                <a:latin typeface="+mj-lt"/>
                <a:ea typeface="Tahoma" panose="020B0604030504040204" pitchFamily="34" charset="0"/>
                <a:cs typeface="Tahoma" panose="020B0604030504040204" pitchFamily="34" charset="0"/>
              </a:defRPr>
            </a:lvl1pPr>
          </a:lstStyle>
          <a:p>
            <a:endParaRPr lang="en-US" sz="4000" dirty="0">
              <a:solidFill>
                <a:schemeClr val="accent2"/>
              </a:solidFill>
              <a:latin typeface="Söhne"/>
            </a:endParaRPr>
          </a:p>
        </p:txBody>
      </p:sp>
      <p:sp>
        <p:nvSpPr>
          <p:cNvPr id="4" name="TextBox 3"/>
          <p:cNvSpPr txBox="1"/>
          <p:nvPr/>
        </p:nvSpPr>
        <p:spPr>
          <a:xfrm flipH="1">
            <a:off x="4254148" y="2354426"/>
            <a:ext cx="5981008" cy="461665"/>
          </a:xfrm>
          <a:prstGeom prst="rect">
            <a:avLst/>
          </a:prstGeom>
          <a:noFill/>
        </p:spPr>
        <p:txBody>
          <a:bodyPr wrap="square" rtlCol="0">
            <a:spAutoFit/>
          </a:bodyPr>
          <a:lstStyle/>
          <a:p>
            <a:r>
              <a:rPr lang="en-US" sz="2400" b="1" dirty="0" smtClean="0">
                <a:solidFill>
                  <a:schemeClr val="accent1">
                    <a:lumMod val="40000"/>
                    <a:lumOff val="60000"/>
                  </a:schemeClr>
                </a:solidFill>
              </a:rPr>
              <a:t>References</a:t>
            </a:r>
            <a:endParaRPr lang="en-US" sz="2400" b="1" dirty="0">
              <a:solidFill>
                <a:schemeClr val="accent1">
                  <a:lumMod val="40000"/>
                  <a:lumOff val="60000"/>
                </a:schemeClr>
              </a:solidFill>
            </a:endParaRPr>
          </a:p>
        </p:txBody>
      </p:sp>
    </p:spTree>
    <p:extLst>
      <p:ext uri="{BB962C8B-B14F-4D97-AF65-F5344CB8AC3E}">
        <p14:creationId xmlns:p14="http://schemas.microsoft.com/office/powerpoint/2010/main" val="429771863"/>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99</TotalTime>
  <Words>697</Words>
  <Application>Microsoft Office PowerPoint</Application>
  <PresentationFormat>Widescreen</PresentationFormat>
  <Paragraphs>102</Paragraphs>
  <Slides>11</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Courier New</vt:lpstr>
      <vt:lpstr>Söhne</vt:lpstr>
      <vt:lpstr>Tahoma</vt:lpstr>
      <vt:lpstr>Times New Roman</vt:lpstr>
      <vt:lpstr>Trade Gothic LT Pro</vt:lpstr>
      <vt:lpstr>Trebuchet MS</vt:lpstr>
      <vt:lpstr>Office Theme</vt:lpstr>
      <vt:lpstr>Technical Business Writing in Cloud Computing</vt:lpstr>
      <vt:lpstr>Introduction</vt:lpstr>
      <vt:lpstr>Methodology</vt:lpstr>
      <vt:lpstr>Thematic Analysis</vt:lpstr>
      <vt:lpstr>Key Findings</vt:lpstr>
      <vt:lpstr>Resources for Budget Allocation</vt:lpstr>
      <vt:lpstr>Alignment with Objectives</vt:lpstr>
      <vt:lpstr>Roles of TBW in Cloud Computing</vt:lpstr>
      <vt:lpstr>Implications of Findings</vt:lpstr>
      <vt:lpstr>Conclusion and Future Outlook</vt:lpstr>
      <vt:lpstr>  - Cherryleaf. (2023). Technical writing in the cloud computing. Cherryleaf.  - EDC Technical Writing. (2023). Cloud Computing Documentation. EDC Technical Writing.  - Sani, Z. (2023). Interview on the role of Technical Business Writing in Cloud Computing. Personal communication.  - Smith, J. (2023). The Role of Technical Business Writing in Cloud Computing. Journal of Cloud Computing, 23(4), 123-145.  - Johnson, K. (2023). Mitigating Risks in Cloud Migration using Technical Business Writing. Cloud Computing Today, 12(7), 56-7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Business Writing in Cloud Computing</dc:title>
  <dc:creator>farhan ahmad</dc:creator>
  <cp:lastModifiedBy>Abubaker</cp:lastModifiedBy>
  <cp:revision>6</cp:revision>
  <dcterms:created xsi:type="dcterms:W3CDTF">2023-11-24T14:05:14Z</dcterms:created>
  <dcterms:modified xsi:type="dcterms:W3CDTF">2023-11-26T12:00:25Z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